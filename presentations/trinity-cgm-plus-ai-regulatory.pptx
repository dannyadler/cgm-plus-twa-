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4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1797" y="759867"/>
            <a:ext cx="276606" cy="80467"/>
          </a:xfrm>
          <a:prstGeom prst="rect">
            <a:avLst/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9867" y="661797"/>
            <a:ext cx="80467" cy="276606"/>
          </a:xfrm>
          <a:prstGeom prst="rect">
            <a:avLst/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998" y="548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100" b="1" i="0">
                <a:solidFill>
                  <a:srgbClr val="FFFFFF"/>
                </a:solidFill>
                <a:latin typeface="Helvetica Neue"/>
              </a:rPr>
              <a:t>bioT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3200400"/>
            <a:ext cx="777240" cy="7772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1437"/>
                </a:solidFill>
                <a:latin typeface="Helvetica Neue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062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1" i="0">
                <a:solidFill>
                  <a:srgbClr val="FFFFFF"/>
                </a:solidFill>
                <a:latin typeface="Helvetica Neue"/>
              </a:rPr>
              <a:t>AI-Assisted</a:t>
            </a:r>
          </a:p>
          <a:p>
            <a:pPr algn="l">
              <a:lnSpc>
                <a:spcPct val="95000"/>
              </a:lnSpc>
            </a:pPr>
            <a:r>
              <a:rPr sz="6400" b="1" i="0">
                <a:solidFill>
                  <a:srgbClr val="FFFFFF"/>
                </a:solidFill>
                <a:latin typeface="Helvetica Neue"/>
              </a:rPr>
              <a:t>Regulatory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DBDBE6"/>
                </a:solidFill>
                <a:latin typeface="DM Sans"/>
              </a:rPr>
              <a:t>Trinity CGM Plus  ·  Presale demonstration  ·  April 2026</a:t>
            </a:r>
          </a:p>
        </p:txBody>
      </p:sp>
      <p:sp>
        <p:nvSpPr>
          <p:cNvPr id="9" name="TextBox 8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>
                <a:solidFill>
                  <a:srgbClr val="DBDBE6"/>
                </a:solidFill>
                <a:latin typeface="Helvetica Neue"/>
              </a:rPr>
              <a:t>What's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430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A1A"/>
                </a:solidFill>
                <a:latin typeface="Helvetica Neue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1430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9202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A1A"/>
                </a:solidFill>
                <a:latin typeface="Helvetica Neue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9202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DHF artifact set (9 documents)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6974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A1A"/>
                </a:solidFill>
                <a:latin typeface="Helvetica Neue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6974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The CI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747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A1A"/>
                </a:solidFill>
                <a:latin typeface="Helvetica Neue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4747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Where AI ends, humans begin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A1A"/>
                </a:solidFill>
                <a:latin typeface="Helvetica Neue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425196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Quantified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292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A1A"/>
                </a:solidFill>
                <a:latin typeface="Helvetica Neue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50292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Q&amp;A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4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160520"/>
            <a:ext cx="777240" cy="7772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1437"/>
                </a:solidFill>
                <a:latin typeface="Helvetica Neue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The</a:t>
            </a:r>
          </a:p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01  ·  The product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A1A1A"/>
                </a:solidFill>
                <a:latin typeface="Helvetica Neue"/>
              </a:rPr>
              <a:t>Trinity CGM Plus presale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66666"/>
                </a:solidFill>
                <a:latin typeface="DM Sans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DM Sans"/>
              </a:rPr>
              <a:t>Single-file vanilla-JS Progressive Web App on top of BioT Demo2. Deployed to Netlify, wrapped as Android Trusted Web Activity. Five tabs displaying glucose, HR, activity, skin temp from BioT.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66666"/>
                </a:solidFill>
                <a:latin typeface="DM Sans"/>
              </a:rPr>
              <a:t>What changed in the last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233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DM Sans"/>
              </a:rPr>
              <a:t>• Replaced hardcoded credentials in client JS with a Netlify Function login proxy.
• Added WebAuthn fingerprint unlock backed by the platform authenticator.
• Generated nine regulatory documents and a real CI pipeline — what we'll walk through.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4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160520"/>
            <a:ext cx="777240" cy="7772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1437"/>
                </a:solidFill>
                <a:latin typeface="Helvetica Neue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DHF</a:t>
            </a:r>
          </a:p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Artifact Set</a:t>
            </a:r>
          </a:p>
        </p:txBody>
      </p:sp>
      <p:sp>
        <p:nvSpPr>
          <p:cNvPr id="4" name="TextBox 3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  ·  DHF artifact set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A1A1A"/>
                </a:solidFill>
                <a:latin typeface="Helvetica Neue"/>
              </a:rPr>
              <a:t>Nine documents, ~30 minutes of AI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Manual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Software Safety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331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IEC 62304 §4.3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331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1–2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432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Software Requirements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IEC 62304 §5.2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3–5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1546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Software Design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IEC 62304 §5.3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3–5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66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Risk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66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ISO 14971:2019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5–10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77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77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Software Test Description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IEC 62304 §5.5–5.7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5–10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89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3891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Cybersecurity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FDA Premarket 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4–7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00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8006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SBOM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CycloneDX 1.5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0.5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212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12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Traceability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212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IEC 62304 implicit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212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2–4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623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545D8"/>
                </a:solidFill>
                <a:latin typeface="Helvetica Neue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6235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Talk Track + Slides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623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DM San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623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DM Sans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66666"/>
                </a:solidFill>
                <a:latin typeface="DM Sans"/>
              </a:rPr>
              <a:t>Equivalent manual effort across all nine: 25–45 person-days plus clinical and security review.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02.01  ·  TCG-REG-01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Software Safety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IEC 62304 §4.3  ·  TCG-REG-01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Class B for the demo, with explicit rationale.
•  Class C upgrade path documented for any treatment-decision claim.
•  External controls (controlled distribution, no clinical labeling) reduce demo residual risk.
•  Open Items flag four judgment calls for human 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AI flags the question — "if you ever claim treatment-decision support, redo this DHF under Class C" — rather than burying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02.02  ·  TCG-REG-02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Software Requirements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IEC 62304 §5.2  ·  TCG-REG-02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67 requirements with REQ-IDs across functional, performance, interface, safety, security, usability.
•  REQ-080: "glucose conversion shall use divisor 18.0182 with no rounding" — extracted from actual code.
•  REQ-094: "no console output containing the access token" — from AI's own threat model.
•  Each REQ has a TST-NNN verification reference. The tests are real and run in CI.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Not boilerplate. Each requirement is grounded in code or a real risk the AI identified.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02.03  ·  TCG-REG-03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Software Design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IEC 62304 §5.3  ·  TCG-REG-03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Architectural decomposition: 7 client items, 2 server items.
•  Trust-boundary diagram. Data dictionary. SOUP component table.
•  Open Items flags six existing bugs that should drive change orders.
•  Calls out code-quality issues your software lead would catch — and writes them down.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AI is reading code and writing the list of code-quality issues a senior engineer would write.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02.04  ·  TCG-REG-04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Risk Analysis  (centerpiece)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ISO 14971:2019  ·  TCG-REG-04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18 identified risks with severity / probability / risk-class scoring.
•  RISK-04: credentials in client — initial HIGH, residual LOW post-mitigations we shipped.
•  RISK-07: TIR computed row-weighted not time-weighted — a real bug, found by AI in our actual code.
•  Distinguishes implemented RCMs from PROPOSED — Future. Honest about gaps.
•  Severity scaling needs clinical input. Probability needs field data. AI flags this.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Honest about residual risk. Tells us where it can't help. The framing your RA team would write themselves.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02.05  ·  TCG-REG-05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Software Test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IEC 62304 §5.5–5.7  ·  TCG-REG-05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35 test cases: parse, lint, secret-scan, 10 unit, 9 integration, 12 system, 4 manual.
•  Each test traces to one or more REQ-IDs and corresponding RISK-IDs.
•  Unit tests on the computation module are the high-leverage Class B verification activity.
•  TST-UNIT-001 verifies toMmol(18.0182) returns exactly 1.0 within IEEE 754 precision.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These are real tests. They actually run in our CI on every push.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02.06  ·  TCG-REG-06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Cybersecurity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FDA Premarket Cyber 2023  ·  TCG-REG-06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STRIDE per trust boundary. Asset inventory. Security control catalog.
•  SOUP CVE status snapshot, with explicit pointer to npm audit as live source of truth.
•  Postmarket update plan placeholder, with what productization would require.
•  Honest scope statement on what relies on Netlify, BioT, browser/OS vendor security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AI was honest that the SOUP CVE list is its static snapshot. It's not pretending to be a vulnerability scanner.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02.07  ·  TCG-REG-07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Software Bill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CycloneDX 1.5  ·  TCG-REG-07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Real components, real versions, real hashes from package-lock.json.
•  External services (BioT, Netlify, WebAuthn platform) included as service components.
•  Mechanically regenerated by CI on every push. Always current.
•  Required by FDA 2023 cybersecurity guidance.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Mechanical artifact done right. The kind of thing AI should fully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02.08  ·  TCG-REG-08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37"/>
                </a:solidFill>
                <a:latin typeface="Helvetica Neue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Traceability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DM Sans"/>
              </a:rPr>
              <a:t>IEC 62304 implicit  ·  TCG-REG-08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•  Bidirectional: REQ → DES → TEST → RISK and reverse.
•  Coverage summary: 56 / 67 requirements have automated test coverage.
•  11 explicit gaps listed with recommended additions.
•  RISK → CONTROL → TEST tracks every risk to its mitigation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7744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545D8"/>
                </a:solidFill>
                <a:latin typeface="Helvetica Neue"/>
              </a:rPr>
              <a:t>What this slide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1A1A1A"/>
                </a:solidFill>
                <a:latin typeface="DM Sans"/>
              </a:rPr>
              <a:t>The single biggest pain point of any regulatory team. AI keeps it consistent because it generated all source documents in one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4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160520"/>
            <a:ext cx="777240" cy="7772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1437"/>
                </a:solidFill>
                <a:latin typeface="Helvetica Neue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The</a:t>
            </a:r>
          </a:p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CI Pipeline</a:t>
            </a:r>
          </a:p>
        </p:txBody>
      </p:sp>
      <p:sp>
        <p:nvSpPr>
          <p:cNvPr id="4" name="TextBox 3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03  ·  The CI pipeline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A1A1A"/>
                </a:solidFill>
                <a:latin typeface="Helvetica Neue"/>
              </a:rPr>
              <a:t>Documents are one half. Tests are the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666666"/>
                </a:solidFill>
                <a:latin typeface="DM Sans"/>
              </a:rPr>
              <a:t>On every push to GitHub: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1A1A1A"/>
                </a:solidFill>
                <a:latin typeface="DM Sans"/>
              </a:rPr>
              <a:t>1.  Parse check — catches the duplicate-let class of bug.
2.  ESLint — coding-hygiene gate.
3.  Static secret scan — fails the build if any deployed file leaks credentials.
4.  33 unit tests on the computation module — toMmol, TIR, trend, smoothing.
5.  npm audit — refreshes the SOUP CVE table for §8 of the cybersecurity doc.
6.  SBOM regenerated and published as a workflow artifact.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DM Sans"/>
              </a:rPr>
              <a:t>End-to-end run time: ~2 minutes. Result is the V&amp;V evidence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4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160520"/>
            <a:ext cx="777240" cy="7772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1437"/>
                </a:solidFill>
                <a:latin typeface="Helvetica Neue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Where AI Ends,</a:t>
            </a:r>
          </a:p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Humans Begin</a:t>
            </a:r>
          </a:p>
        </p:txBody>
      </p:sp>
      <p:sp>
        <p:nvSpPr>
          <p:cNvPr id="4" name="TextBox 3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04  ·  Where AI ends, humans begin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Helvetica Neue"/>
              </a:rPr>
              <a:t>AI compresses drafting. Humans own accountability.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545D8"/>
                </a:solidFill>
                <a:latin typeface="Helvetica Neue"/>
              </a:rPr>
              <a:t>AI does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DM Sans"/>
              </a:rPr>
              <a:t>•  Document scaffolding from standards.
•  Cross-referencing — REQ / DES / RISK / TST IDs stay consistent across nine docs.
•  Code-grounded honesty — flags real bugs, real gaps as Open Items.
•  Drafting velocity — order of magnitude faster than manual authorship.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19456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A5A0"/>
                </a:solidFill>
                <a:latin typeface="Helvetica Neue"/>
              </a:rPr>
              <a:t>AI does NOT replace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4320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DM Sans"/>
              </a:rPr>
              <a:t>•  Clinical severity calibration.
•  Use-error analysis (IEC 62366).
•  QMS integration — your templates, numbering, approval workflow.
•  Sign-off and accountability — real signatures.
•  Penetration testing.
•  Formal SOUP qualification.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4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160520"/>
            <a:ext cx="777240" cy="7772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1437"/>
                </a:solidFill>
                <a:latin typeface="Helvetica Neue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Quantified</a:t>
            </a:r>
          </a:p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05  ·  Quantified value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A1A"/>
                </a:solidFill>
                <a:latin typeface="Helvetica Neue"/>
              </a:rPr>
              <a:t>Order-of-magnitude compression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66666"/>
                </a:solidFill>
                <a:latin typeface="Helvetica Neue"/>
              </a:rPr>
              <a:t>AI generation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 i="0">
                <a:solidFill>
                  <a:srgbClr val="4545D8"/>
                </a:solidFill>
                <a:latin typeface="Helvetica Neue"/>
              </a:rPr>
              <a:t>~30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DM Sans"/>
              </a:rPr>
              <a:t>across the nine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66666"/>
                </a:solidFill>
                <a:latin typeface="Helvetica Neue"/>
              </a:rPr>
              <a:t>Equivalent manual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 i="0">
                <a:solidFill>
                  <a:srgbClr val="FFA5A0"/>
                </a:solidFill>
                <a:latin typeface="Helvetica Neue"/>
              </a:rPr>
              <a:t>25–45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DM Sans"/>
              </a:rPr>
              <a:t>person-days, plus clinical and security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DM Sans"/>
              </a:rPr>
              <a:t>Plus freshness: every code change re-runs the pipeline. The DHF stays alive instead of frozen at submission.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4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160520"/>
            <a:ext cx="777240" cy="777240"/>
          </a:xfrm>
          <a:prstGeom prst="ellipse">
            <a:avLst/>
          </a:prstGeom>
          <a:solidFill>
            <a:srgbClr val="FF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1437"/>
                </a:solidFill>
                <a:latin typeface="Helvetica Neue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Helvetica Neue"/>
              </a:rPr>
              <a:t>Section 06  ·  Q&amp;A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931920" y="0"/>
            <a:ext cx="3657600" cy="54864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A1A1A"/>
                </a:solidFill>
                <a:latin typeface="Helvetica Neue"/>
              </a:rPr>
              <a:t>Three asks, then your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4545D8"/>
                </a:solidFill>
                <a:latin typeface="DM Sans"/>
              </a:rPr>
              <a:t>1. Validate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Pick one document — Risk Analysis is usually the most stressful — and have RA red-team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4545D8"/>
                </a:solidFill>
                <a:latin typeface="DM Sans"/>
              </a:rPr>
              <a:t>2. Test the boundaries.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Pick a Trinity product currently in development. Can AI scaffold its DHF the same way? Run the experiment.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4545D8"/>
                </a:solidFill>
                <a:latin typeface="DM Sans"/>
              </a:rPr>
              <a:t>3. Decide on QMS integration.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A1A1A"/>
                </a:solidFill>
                <a:latin typeface="DM Sans"/>
              </a:rPr>
              <a:t>Templates, numbering schemes, approval flows mapped to your QMS. 1–2 week engagement.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40080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7" y="6523696"/>
            <a:ext cx="160934" cy="46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816" y="6466637"/>
            <a:ext cx="46817" cy="1609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" y="6400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Helvetica Neue"/>
              </a:rPr>
              <a:t>bioT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0"/>
            <a:ext cx="7498080" cy="65471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1A1A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6077" y="668427"/>
            <a:ext cx="276606" cy="80467"/>
          </a:xfrm>
          <a:prstGeom prst="rect">
            <a:avLst/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4147" y="570357"/>
            <a:ext cx="80467" cy="276606"/>
          </a:xfrm>
          <a:prstGeom prst="rect">
            <a:avLst/>
          </a:prstGeom>
          <a:solidFill>
            <a:srgbClr val="454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1278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100" b="1" i="0">
                <a:solidFill>
                  <a:srgbClr val="FFFFFF"/>
                </a:solidFill>
                <a:latin typeface="Helvetica Neue"/>
              </a:rPr>
              <a:t>bioT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DBDBE6"/>
                </a:solidFill>
                <a:latin typeface="Helvetica Neue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BDBE6"/>
                </a:solidFill>
                <a:latin typeface="DM Sans"/>
              </a:rPr>
              <a:t>daniel@biot-med.com  ·  github.com/dannyadler/cgm-plus-twa-</a:t>
            </a:r>
          </a:p>
        </p:txBody>
      </p:sp>
      <p:sp>
        <p:nvSpPr>
          <p:cNvPr id="8" name="TextBox 7"/>
          <p:cNvSpPr txBox="1"/>
          <p:nvPr/>
        </p:nvSpPr>
        <p:spPr>
          <a:xfrm rot="-5400000">
            <a:off x="11750040" y="2011680"/>
            <a:ext cx="365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Helvetica Neue"/>
              </a:rPr>
              <a:t>Trinity CGM Plus  |  AI-Assisted Regulatory Documentation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